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89"/>
  </p:normalViewPr>
  <p:slideViewPr>
    <p:cSldViewPr snapToGrid="0">
      <p:cViewPr varScale="1">
        <p:scale>
          <a:sx n="129" d="100"/>
          <a:sy n="129" d="100"/>
        </p:scale>
        <p:origin x="45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1A04-37FB-A417-287D-AC485A937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47D51-797D-B246-1FAE-C419083A6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0A01F-AD2D-00EC-0F01-6A597D1E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9B63B-C8D1-E8B1-F007-75F178A8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3BE5-A47C-2CC8-6611-02BE9DAE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4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A7F0-4257-AA6D-6258-8B472057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0918-BC55-C875-446A-8008C2016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C5E6-BAEA-7C84-981E-DF088B4C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723B2-0997-42CB-B25D-A7CB5093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145D4-ABC5-A780-D360-FB1F81D4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8791-B25C-0DFB-1EF7-BD320BBE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FC53A-8ED9-C7FC-A6FC-CDC29BC02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F4F9E-53C0-A903-066C-A1E68364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E8317-14E5-3534-1366-FD5E11D0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B8127-7872-F9A6-2185-2B2B5178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56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50E5-F9A2-0566-8931-97F7559D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4269C-A2B8-1599-D891-DAA5163F1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B255F-CD94-B023-77C9-77193CF76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76CE2-1035-2424-C671-40310FD9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BF4A7-046D-ABCC-FFDF-7A5BA68E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2A819-25A2-0AD1-DF44-BC070993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0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2D97-23FF-F19C-65D7-D529269F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7F1FD-D36C-B0F7-E5FD-53029CB4F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957F6-C088-BE18-00F0-72F0EAA51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F0716-3021-5B5D-18E1-92DE93978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B9AB4-B56C-6C60-7925-37FA934CB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C4AF39-56BB-5A34-46BF-11637FBD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401E3F-2142-A9C1-33AA-733CDE13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240AD-05EB-7697-DD7A-BEA16E04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23D4-659C-01BD-A440-F2D8E729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947220-CD50-7100-4062-A0A7F851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0390C-FB70-8638-641D-B001FF7E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03B4C-52E2-6996-9F9C-FD62B0B4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9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1C80B-AE9C-B571-1ABD-17299963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C9F9F-FFD3-9B2B-85CB-DAC464FC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8B315-4A63-D101-2F11-A463F23A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6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344B-1DE5-475C-366A-449B4EA6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4F24-FC4B-9087-1E14-62D45C580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F9FF6-0722-D8E3-E365-7D74853CB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07AF7-829B-9EAF-B6B3-0D4BC4761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24558-0D6B-C69C-77F0-8CE0A79D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250DA-6A46-4D76-38BA-BC7EB6125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8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21D09-3944-451E-CF89-42918DAA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886BAA-926D-F50B-6AB0-3ED0F0B50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B7C5A-686B-3869-E01A-EB4DBE942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51C87-00BB-A7A0-A652-D6162DA3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6EF64-D9D0-B2FB-D135-2F09EBF03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37CC0-DF4D-0931-DC0C-663499C9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7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424A-E042-23CD-59DF-9B5079A6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5B374-21DA-977C-121F-89CC77BFE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421E4-F059-B0F6-6B27-91500D64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07BFB-77D7-F7B6-13FA-F3632643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6185D-0692-3F52-59CE-11AFEC6D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2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D3873-0561-D684-1C92-0064FC95D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A01EF-B421-3904-D47D-E24B47B74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51CC-0B9E-1494-4D4D-72880203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D8352-3969-1355-7823-C3B29ADD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04523-C69A-B270-0DF2-28478050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07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1407B5-38CB-92B3-E415-7D873410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87BD4-5BE9-F3DA-CAA1-FB0E62AB1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0D60-9965-7B3A-FBFA-6DF0CF33B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46671-CF12-E54E-ABB7-B6B07867175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4DA93-9A76-1C2D-A754-12436EEDE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ED31-2E9E-F34D-1654-A5583225E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492C5-38AB-9D41-B6BF-C747434FC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1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8E344E92-F66E-4248-CFA6-51A93D531FCF}"/>
              </a:ext>
            </a:extLst>
          </p:cNvPr>
          <p:cNvSpPr/>
          <p:nvPr/>
        </p:nvSpPr>
        <p:spPr>
          <a:xfrm>
            <a:off x="3339544" y="1706571"/>
            <a:ext cx="7871792" cy="51514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4FF0775-C9D0-6787-19A3-4E6FE238634F}"/>
              </a:ext>
            </a:extLst>
          </p:cNvPr>
          <p:cNvSpPr/>
          <p:nvPr/>
        </p:nvSpPr>
        <p:spPr>
          <a:xfrm>
            <a:off x="3339541" y="858545"/>
            <a:ext cx="7871789" cy="61386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8631614-0E59-A0B8-E236-04776FD6C661}"/>
              </a:ext>
            </a:extLst>
          </p:cNvPr>
          <p:cNvSpPr/>
          <p:nvPr/>
        </p:nvSpPr>
        <p:spPr>
          <a:xfrm>
            <a:off x="4028599" y="1828433"/>
            <a:ext cx="5792485" cy="60015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507E5-E2DB-C5D3-7E96-1B458417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94" y="37680"/>
            <a:ext cx="12024503" cy="449067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Solution Architecture Diagram for ADS Dental Surgery System (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Monolithic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E2883-B6C5-E33D-12C0-3198813326B8}"/>
              </a:ext>
            </a:extLst>
          </p:cNvPr>
          <p:cNvSpPr txBox="1"/>
          <p:nvPr/>
        </p:nvSpPr>
        <p:spPr>
          <a:xfrm>
            <a:off x="390894" y="556624"/>
            <a:ext cx="1421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Physical tiers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1C05AD-A19C-45EE-06D3-465F3871038A}"/>
              </a:ext>
            </a:extLst>
          </p:cNvPr>
          <p:cNvCxnSpPr>
            <a:cxnSpLocks/>
          </p:cNvCxnSpPr>
          <p:nvPr/>
        </p:nvCxnSpPr>
        <p:spPr>
          <a:xfrm>
            <a:off x="2305879" y="556624"/>
            <a:ext cx="0" cy="63013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erson sitting at a computer&#10;&#10;AI-generated content may be incorrect.">
            <a:extLst>
              <a:ext uri="{FF2B5EF4-FFF2-40B4-BE49-F238E27FC236}">
                <a16:creationId xmlns:a16="http://schemas.microsoft.com/office/drawing/2014/main" id="{F633844E-FAC7-E3D4-9BBD-D2F11803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61" y="1043273"/>
            <a:ext cx="786409" cy="7864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21C0B5-9B2B-6C68-13CC-D26D288470CD}"/>
              </a:ext>
            </a:extLst>
          </p:cNvPr>
          <p:cNvSpPr txBox="1"/>
          <p:nvPr/>
        </p:nvSpPr>
        <p:spPr>
          <a:xfrm>
            <a:off x="605061" y="1706571"/>
            <a:ext cx="6415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>
                    <a:lumMod val="75000"/>
                  </a:schemeClr>
                </a:solidFill>
              </a:rPr>
              <a:t>Browser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49712-CF96-504C-93D6-2B89F5C45AE8}"/>
              </a:ext>
            </a:extLst>
          </p:cNvPr>
          <p:cNvSpPr txBox="1"/>
          <p:nvPr/>
        </p:nvSpPr>
        <p:spPr>
          <a:xfrm rot="16200000">
            <a:off x="-11697" y="1341610"/>
            <a:ext cx="858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Client Tier</a:t>
            </a:r>
          </a:p>
        </p:txBody>
      </p:sp>
      <p:pic>
        <p:nvPicPr>
          <p:cNvPr id="12" name="Picture 11" descr="A white cloud with a shadow&#10;&#10;AI-generated content may be incorrect.">
            <a:extLst>
              <a:ext uri="{FF2B5EF4-FFF2-40B4-BE49-F238E27FC236}">
                <a16:creationId xmlns:a16="http://schemas.microsoft.com/office/drawing/2014/main" id="{0944AD8B-9535-7897-5F79-3D305F04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9" y="2141301"/>
            <a:ext cx="835440" cy="835440"/>
          </a:xfrm>
          <a:prstGeom prst="rect">
            <a:avLst/>
          </a:prstGeom>
        </p:spPr>
      </p:pic>
      <p:pic>
        <p:nvPicPr>
          <p:cNvPr id="14" name="Picture 13" descr="A black and silver computer tower&#10;&#10;AI-generated content may be incorrect.">
            <a:extLst>
              <a:ext uri="{FF2B5EF4-FFF2-40B4-BE49-F238E27FC236}">
                <a16:creationId xmlns:a16="http://schemas.microsoft.com/office/drawing/2014/main" id="{E1D0E881-39E4-E6AE-91C6-319902D23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88" y="3317582"/>
            <a:ext cx="786410" cy="7864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CFC78A-2E89-889B-92A8-344AC8AA036A}"/>
              </a:ext>
            </a:extLst>
          </p:cNvPr>
          <p:cNvSpPr txBox="1"/>
          <p:nvPr/>
        </p:nvSpPr>
        <p:spPr>
          <a:xfrm>
            <a:off x="91294" y="4118541"/>
            <a:ext cx="21350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Spring Boot with embedded Tomcat</a:t>
            </a:r>
          </a:p>
        </p:txBody>
      </p:sp>
      <p:pic>
        <p:nvPicPr>
          <p:cNvPr id="16" name="Picture 15" descr="A white cloud with a shadow&#10;&#10;AI-generated content may be incorrect.">
            <a:extLst>
              <a:ext uri="{FF2B5EF4-FFF2-40B4-BE49-F238E27FC236}">
                <a16:creationId xmlns:a16="http://schemas.microsoft.com/office/drawing/2014/main" id="{717B989A-382C-3A19-1F05-B9DB09FE8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9" y="4470580"/>
            <a:ext cx="835440" cy="835440"/>
          </a:xfrm>
          <a:prstGeom prst="rect">
            <a:avLst/>
          </a:prstGeom>
        </p:spPr>
      </p:pic>
      <p:pic>
        <p:nvPicPr>
          <p:cNvPr id="18" name="Picture 17" descr="A computer tower and a blue cylinder&#10;&#10;AI-generated content may be incorrect.">
            <a:extLst>
              <a:ext uri="{FF2B5EF4-FFF2-40B4-BE49-F238E27FC236}">
                <a16:creationId xmlns:a16="http://schemas.microsoft.com/office/drawing/2014/main" id="{B4B5FD98-8C7F-CF71-DE8B-D1E0D4C07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61" y="5514075"/>
            <a:ext cx="663156" cy="8174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8FD63D0-D565-DA44-A255-FD48455F100E}"/>
              </a:ext>
            </a:extLst>
          </p:cNvPr>
          <p:cNvSpPr txBox="1"/>
          <p:nvPr/>
        </p:nvSpPr>
        <p:spPr>
          <a:xfrm>
            <a:off x="1" y="6379069"/>
            <a:ext cx="18387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MySQL Server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DCB74B-D3B0-15DB-709D-20A74034AC50}"/>
              </a:ext>
            </a:extLst>
          </p:cNvPr>
          <p:cNvSpPr txBox="1"/>
          <p:nvPr/>
        </p:nvSpPr>
        <p:spPr>
          <a:xfrm rot="16200000">
            <a:off x="-64110" y="3500598"/>
            <a:ext cx="91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Middle Tier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DA7E2-6AA5-24CF-CD39-B1B2CF07D257}"/>
              </a:ext>
            </a:extLst>
          </p:cNvPr>
          <p:cNvSpPr txBox="1"/>
          <p:nvPr/>
        </p:nvSpPr>
        <p:spPr>
          <a:xfrm rot="16200000">
            <a:off x="19086" y="5772210"/>
            <a:ext cx="783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Data Tier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A1FEDE-4328-894D-BDEB-6D25A811002A}"/>
              </a:ext>
            </a:extLst>
          </p:cNvPr>
          <p:cNvSpPr/>
          <p:nvPr/>
        </p:nvSpPr>
        <p:spPr>
          <a:xfrm>
            <a:off x="4979500" y="1921980"/>
            <a:ext cx="4065101" cy="3572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React.js</a:t>
            </a:r>
            <a:r>
              <a:rPr lang="en-US" sz="1000" dirty="0"/>
              <a:t> with React Hooks, React Router, Axios, Material UI</a:t>
            </a:r>
          </a:p>
        </p:txBody>
      </p:sp>
      <p:pic>
        <p:nvPicPr>
          <p:cNvPr id="28" name="Picture 27" descr="A group of logos with different colors&#10;&#10;AI-generated content may be incorrect.">
            <a:extLst>
              <a:ext uri="{FF2B5EF4-FFF2-40B4-BE49-F238E27FC236}">
                <a16:creationId xmlns:a16="http://schemas.microsoft.com/office/drawing/2014/main" id="{471BBA58-5068-C9F5-BF96-84FBAE82D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127" y="905033"/>
            <a:ext cx="747886" cy="42736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BC35BE5-8A47-BE11-AADE-936F0A5C68D8}"/>
              </a:ext>
            </a:extLst>
          </p:cNvPr>
          <p:cNvSpPr txBox="1"/>
          <p:nvPr/>
        </p:nvSpPr>
        <p:spPr>
          <a:xfrm>
            <a:off x="5107735" y="511955"/>
            <a:ext cx="3121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Logical Tiers and Layers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FD9DEF-D367-5949-CB12-BE36733C3F83}"/>
              </a:ext>
            </a:extLst>
          </p:cNvPr>
          <p:cNvCxnSpPr>
            <a:cxnSpLocks/>
          </p:cNvCxnSpPr>
          <p:nvPr/>
        </p:nvCxnSpPr>
        <p:spPr>
          <a:xfrm>
            <a:off x="6592951" y="1472415"/>
            <a:ext cx="0" cy="357266"/>
          </a:xfrm>
          <a:prstGeom prst="straightConnector1">
            <a:avLst/>
          </a:prstGeom>
          <a:ln w="4762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2187475-4621-0A66-928A-2574CECEF165}"/>
              </a:ext>
            </a:extLst>
          </p:cNvPr>
          <p:cNvCxnSpPr>
            <a:cxnSpLocks/>
          </p:cNvCxnSpPr>
          <p:nvPr/>
        </p:nvCxnSpPr>
        <p:spPr>
          <a:xfrm>
            <a:off x="6758602" y="1456355"/>
            <a:ext cx="0" cy="373326"/>
          </a:xfrm>
          <a:prstGeom prst="straightConnector1">
            <a:avLst/>
          </a:prstGeom>
          <a:ln w="47625">
            <a:solidFill>
              <a:srgbClr val="00206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06C40D-DA67-4775-7D86-7009640419E6}"/>
              </a:ext>
            </a:extLst>
          </p:cNvPr>
          <p:cNvSpPr txBox="1"/>
          <p:nvPr/>
        </p:nvSpPr>
        <p:spPr>
          <a:xfrm>
            <a:off x="4028599" y="1918256"/>
            <a:ext cx="905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</a:rPr>
              <a:t>Front End (React App)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A987E4-CA06-B980-1CEB-7A610C58CC12}"/>
              </a:ext>
            </a:extLst>
          </p:cNvPr>
          <p:cNvSpPr txBox="1"/>
          <p:nvPr/>
        </p:nvSpPr>
        <p:spPr>
          <a:xfrm rot="5400000">
            <a:off x="10648426" y="3917130"/>
            <a:ext cx="1607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Cloud (AWS)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12577F4-71E0-6C55-8684-AF152684D64E}"/>
              </a:ext>
            </a:extLst>
          </p:cNvPr>
          <p:cNvSpPr/>
          <p:nvPr/>
        </p:nvSpPr>
        <p:spPr>
          <a:xfrm>
            <a:off x="3993617" y="6054436"/>
            <a:ext cx="5862441" cy="70060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396EA9-677C-E431-FE0E-93D06EE1A254}"/>
              </a:ext>
            </a:extLst>
          </p:cNvPr>
          <p:cNvSpPr txBox="1"/>
          <p:nvPr/>
        </p:nvSpPr>
        <p:spPr>
          <a:xfrm>
            <a:off x="4069593" y="6292433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Data Server </a:t>
            </a:r>
          </a:p>
          <a:p>
            <a:r>
              <a:rPr lang="en-US" sz="1000" b="1" dirty="0">
                <a:solidFill>
                  <a:srgbClr val="C00000"/>
                </a:solidFill>
              </a:rPr>
              <a:t>(MySQL)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762D6A3-271D-DA7A-C518-CE7E52A833C4}"/>
              </a:ext>
            </a:extLst>
          </p:cNvPr>
          <p:cNvSpPr/>
          <p:nvPr/>
        </p:nvSpPr>
        <p:spPr>
          <a:xfrm>
            <a:off x="3947851" y="2758565"/>
            <a:ext cx="5873227" cy="29317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CFADA5-7350-46A2-8CB5-AE7E9BEAA695}"/>
              </a:ext>
            </a:extLst>
          </p:cNvPr>
          <p:cNvSpPr txBox="1"/>
          <p:nvPr/>
        </p:nvSpPr>
        <p:spPr>
          <a:xfrm>
            <a:off x="3918881" y="4019696"/>
            <a:ext cx="8869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C00000"/>
                </a:solidFill>
              </a:rPr>
              <a:t>Backend</a:t>
            </a:r>
          </a:p>
          <a:p>
            <a:pPr algn="ctr"/>
            <a:r>
              <a:rPr lang="en-US" sz="1000" b="1" dirty="0">
                <a:solidFill>
                  <a:srgbClr val="C00000"/>
                </a:solidFill>
              </a:rPr>
              <a:t>(Spring Boot Application)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12F010B-C1A7-FA3B-3C3E-8ED2F3BB0F19}"/>
              </a:ext>
            </a:extLst>
          </p:cNvPr>
          <p:cNvSpPr/>
          <p:nvPr/>
        </p:nvSpPr>
        <p:spPr>
          <a:xfrm>
            <a:off x="4979497" y="3005598"/>
            <a:ext cx="4065101" cy="304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Presentation Layer (Controller)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D757DE-D5A5-DBEE-9639-3982857071CB}"/>
              </a:ext>
            </a:extLst>
          </p:cNvPr>
          <p:cNvSpPr/>
          <p:nvPr/>
        </p:nvSpPr>
        <p:spPr>
          <a:xfrm>
            <a:off x="4979497" y="3564367"/>
            <a:ext cx="4065101" cy="304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Transformation Layer (DTO and Mapper)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A41BA2-EB1E-0D09-6ADD-A4C0DF165E3D}"/>
              </a:ext>
            </a:extLst>
          </p:cNvPr>
          <p:cNvSpPr/>
          <p:nvPr/>
        </p:nvSpPr>
        <p:spPr>
          <a:xfrm>
            <a:off x="4967377" y="4113200"/>
            <a:ext cx="4065101" cy="304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Service Layer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54F5DDD-5A07-FD98-EB76-EFA033ED3C3F}"/>
              </a:ext>
            </a:extLst>
          </p:cNvPr>
          <p:cNvSpPr/>
          <p:nvPr/>
        </p:nvSpPr>
        <p:spPr>
          <a:xfrm>
            <a:off x="4979497" y="4666059"/>
            <a:ext cx="4065101" cy="304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Domain Model Layer (Entity Classes)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13AA63-80EC-1D39-35C5-EF98AA6150CB}"/>
              </a:ext>
            </a:extLst>
          </p:cNvPr>
          <p:cNvSpPr/>
          <p:nvPr/>
        </p:nvSpPr>
        <p:spPr>
          <a:xfrm>
            <a:off x="4979497" y="5201662"/>
            <a:ext cx="4065101" cy="304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Repository Layer (Spring Data JPA)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361F2C2-6253-843B-2C2A-9348259A39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72" t="11953" r="7643" b="13197"/>
          <a:stretch/>
        </p:blipFill>
        <p:spPr>
          <a:xfrm>
            <a:off x="6146492" y="6070248"/>
            <a:ext cx="550914" cy="665809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72C03F8-94D6-66DC-7D99-30AC29AA2D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72" t="11953" r="7643" b="13197"/>
          <a:stretch/>
        </p:blipFill>
        <p:spPr>
          <a:xfrm>
            <a:off x="6951848" y="6068768"/>
            <a:ext cx="550914" cy="665809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7BB31460-8B08-073E-E19C-CA14EBA40471}"/>
              </a:ext>
            </a:extLst>
          </p:cNvPr>
          <p:cNvSpPr/>
          <p:nvPr/>
        </p:nvSpPr>
        <p:spPr>
          <a:xfrm>
            <a:off x="4779287" y="2877478"/>
            <a:ext cx="4414405" cy="2708811"/>
          </a:xfrm>
          <a:custGeom>
            <a:avLst/>
            <a:gdLst>
              <a:gd name="connsiteX0" fmla="*/ 0 w 4414405"/>
              <a:gd name="connsiteY0" fmla="*/ 0 h 2708811"/>
              <a:gd name="connsiteX1" fmla="*/ 507657 w 4414405"/>
              <a:gd name="connsiteY1" fmla="*/ 0 h 2708811"/>
              <a:gd name="connsiteX2" fmla="*/ 927025 w 4414405"/>
              <a:gd name="connsiteY2" fmla="*/ 0 h 2708811"/>
              <a:gd name="connsiteX3" fmla="*/ 1567114 w 4414405"/>
              <a:gd name="connsiteY3" fmla="*/ 0 h 2708811"/>
              <a:gd name="connsiteX4" fmla="*/ 2074770 w 4414405"/>
              <a:gd name="connsiteY4" fmla="*/ 0 h 2708811"/>
              <a:gd name="connsiteX5" fmla="*/ 2582427 w 4414405"/>
              <a:gd name="connsiteY5" fmla="*/ 0 h 2708811"/>
              <a:gd name="connsiteX6" fmla="*/ 3222516 w 4414405"/>
              <a:gd name="connsiteY6" fmla="*/ 0 h 2708811"/>
              <a:gd name="connsiteX7" fmla="*/ 3686028 w 4414405"/>
              <a:gd name="connsiteY7" fmla="*/ 0 h 2708811"/>
              <a:gd name="connsiteX8" fmla="*/ 4414405 w 4414405"/>
              <a:gd name="connsiteY8" fmla="*/ 0 h 2708811"/>
              <a:gd name="connsiteX9" fmla="*/ 4414405 w 4414405"/>
              <a:gd name="connsiteY9" fmla="*/ 595938 h 2708811"/>
              <a:gd name="connsiteX10" fmla="*/ 4414405 w 4414405"/>
              <a:gd name="connsiteY10" fmla="*/ 1083524 h 2708811"/>
              <a:gd name="connsiteX11" fmla="*/ 4414405 w 4414405"/>
              <a:gd name="connsiteY11" fmla="*/ 1625287 h 2708811"/>
              <a:gd name="connsiteX12" fmla="*/ 4414405 w 4414405"/>
              <a:gd name="connsiteY12" fmla="*/ 2194137 h 2708811"/>
              <a:gd name="connsiteX13" fmla="*/ 4414405 w 4414405"/>
              <a:gd name="connsiteY13" fmla="*/ 2708811 h 2708811"/>
              <a:gd name="connsiteX14" fmla="*/ 3862604 w 4414405"/>
              <a:gd name="connsiteY14" fmla="*/ 2708811 h 2708811"/>
              <a:gd name="connsiteX15" fmla="*/ 3399092 w 4414405"/>
              <a:gd name="connsiteY15" fmla="*/ 2708811 h 2708811"/>
              <a:gd name="connsiteX16" fmla="*/ 2847291 w 4414405"/>
              <a:gd name="connsiteY16" fmla="*/ 2708811 h 2708811"/>
              <a:gd name="connsiteX17" fmla="*/ 2207203 w 4414405"/>
              <a:gd name="connsiteY17" fmla="*/ 2708811 h 2708811"/>
              <a:gd name="connsiteX18" fmla="*/ 1655402 w 4414405"/>
              <a:gd name="connsiteY18" fmla="*/ 2708811 h 2708811"/>
              <a:gd name="connsiteX19" fmla="*/ 1236033 w 4414405"/>
              <a:gd name="connsiteY19" fmla="*/ 2708811 h 2708811"/>
              <a:gd name="connsiteX20" fmla="*/ 772521 w 4414405"/>
              <a:gd name="connsiteY20" fmla="*/ 2708811 h 2708811"/>
              <a:gd name="connsiteX21" fmla="*/ 0 w 4414405"/>
              <a:gd name="connsiteY21" fmla="*/ 2708811 h 2708811"/>
              <a:gd name="connsiteX22" fmla="*/ 0 w 4414405"/>
              <a:gd name="connsiteY22" fmla="*/ 2167049 h 2708811"/>
              <a:gd name="connsiteX23" fmla="*/ 0 w 4414405"/>
              <a:gd name="connsiteY23" fmla="*/ 1625287 h 2708811"/>
              <a:gd name="connsiteX24" fmla="*/ 0 w 4414405"/>
              <a:gd name="connsiteY24" fmla="*/ 1110613 h 2708811"/>
              <a:gd name="connsiteX25" fmla="*/ 0 w 4414405"/>
              <a:gd name="connsiteY25" fmla="*/ 650115 h 2708811"/>
              <a:gd name="connsiteX26" fmla="*/ 0 w 4414405"/>
              <a:gd name="connsiteY26" fmla="*/ 0 h 2708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414405" h="2708811" extrusionOk="0">
                <a:moveTo>
                  <a:pt x="0" y="0"/>
                </a:moveTo>
                <a:cubicBezTo>
                  <a:pt x="224141" y="-57492"/>
                  <a:pt x="280230" y="29448"/>
                  <a:pt x="507657" y="0"/>
                </a:cubicBezTo>
                <a:cubicBezTo>
                  <a:pt x="735084" y="-29448"/>
                  <a:pt x="813057" y="46106"/>
                  <a:pt x="927025" y="0"/>
                </a:cubicBezTo>
                <a:cubicBezTo>
                  <a:pt x="1040993" y="-46106"/>
                  <a:pt x="1309673" y="5176"/>
                  <a:pt x="1567114" y="0"/>
                </a:cubicBezTo>
                <a:cubicBezTo>
                  <a:pt x="1824555" y="-5176"/>
                  <a:pt x="1944880" y="29037"/>
                  <a:pt x="2074770" y="0"/>
                </a:cubicBezTo>
                <a:cubicBezTo>
                  <a:pt x="2204660" y="-29037"/>
                  <a:pt x="2395060" y="3778"/>
                  <a:pt x="2582427" y="0"/>
                </a:cubicBezTo>
                <a:cubicBezTo>
                  <a:pt x="2769794" y="-3778"/>
                  <a:pt x="2992984" y="69744"/>
                  <a:pt x="3222516" y="0"/>
                </a:cubicBezTo>
                <a:cubicBezTo>
                  <a:pt x="3452048" y="-69744"/>
                  <a:pt x="3580664" y="2711"/>
                  <a:pt x="3686028" y="0"/>
                </a:cubicBezTo>
                <a:cubicBezTo>
                  <a:pt x="3791392" y="-2711"/>
                  <a:pt x="4079394" y="43599"/>
                  <a:pt x="4414405" y="0"/>
                </a:cubicBezTo>
                <a:cubicBezTo>
                  <a:pt x="4420295" y="183833"/>
                  <a:pt x="4404358" y="333324"/>
                  <a:pt x="4414405" y="595938"/>
                </a:cubicBezTo>
                <a:cubicBezTo>
                  <a:pt x="4424452" y="858552"/>
                  <a:pt x="4357098" y="941833"/>
                  <a:pt x="4414405" y="1083524"/>
                </a:cubicBezTo>
                <a:cubicBezTo>
                  <a:pt x="4471712" y="1225215"/>
                  <a:pt x="4362305" y="1452884"/>
                  <a:pt x="4414405" y="1625287"/>
                </a:cubicBezTo>
                <a:cubicBezTo>
                  <a:pt x="4466505" y="1797690"/>
                  <a:pt x="4366673" y="1931778"/>
                  <a:pt x="4414405" y="2194137"/>
                </a:cubicBezTo>
                <a:cubicBezTo>
                  <a:pt x="4462137" y="2456496"/>
                  <a:pt x="4405144" y="2456770"/>
                  <a:pt x="4414405" y="2708811"/>
                </a:cubicBezTo>
                <a:cubicBezTo>
                  <a:pt x="4240249" y="2755575"/>
                  <a:pt x="4112388" y="2646821"/>
                  <a:pt x="3862604" y="2708811"/>
                </a:cubicBezTo>
                <a:cubicBezTo>
                  <a:pt x="3612820" y="2770801"/>
                  <a:pt x="3500925" y="2692151"/>
                  <a:pt x="3399092" y="2708811"/>
                </a:cubicBezTo>
                <a:cubicBezTo>
                  <a:pt x="3297259" y="2725471"/>
                  <a:pt x="3102867" y="2684835"/>
                  <a:pt x="2847291" y="2708811"/>
                </a:cubicBezTo>
                <a:cubicBezTo>
                  <a:pt x="2591715" y="2732787"/>
                  <a:pt x="2464311" y="2669194"/>
                  <a:pt x="2207203" y="2708811"/>
                </a:cubicBezTo>
                <a:cubicBezTo>
                  <a:pt x="1950095" y="2748428"/>
                  <a:pt x="1790823" y="2698411"/>
                  <a:pt x="1655402" y="2708811"/>
                </a:cubicBezTo>
                <a:cubicBezTo>
                  <a:pt x="1519981" y="2719211"/>
                  <a:pt x="1344544" y="2688439"/>
                  <a:pt x="1236033" y="2708811"/>
                </a:cubicBezTo>
                <a:cubicBezTo>
                  <a:pt x="1127522" y="2729183"/>
                  <a:pt x="971450" y="2699506"/>
                  <a:pt x="772521" y="2708811"/>
                </a:cubicBezTo>
                <a:cubicBezTo>
                  <a:pt x="573592" y="2718116"/>
                  <a:pt x="316808" y="2688288"/>
                  <a:pt x="0" y="2708811"/>
                </a:cubicBezTo>
                <a:cubicBezTo>
                  <a:pt x="-64697" y="2526977"/>
                  <a:pt x="24869" y="2316731"/>
                  <a:pt x="0" y="2167049"/>
                </a:cubicBezTo>
                <a:cubicBezTo>
                  <a:pt x="-24869" y="2017367"/>
                  <a:pt x="12226" y="1737857"/>
                  <a:pt x="0" y="1625287"/>
                </a:cubicBezTo>
                <a:cubicBezTo>
                  <a:pt x="-12226" y="1512717"/>
                  <a:pt x="29221" y="1348674"/>
                  <a:pt x="0" y="1110613"/>
                </a:cubicBezTo>
                <a:cubicBezTo>
                  <a:pt x="-29221" y="872552"/>
                  <a:pt x="23604" y="851366"/>
                  <a:pt x="0" y="650115"/>
                </a:cubicBezTo>
                <a:cubicBezTo>
                  <a:pt x="-23604" y="448864"/>
                  <a:pt x="31456" y="232523"/>
                  <a:pt x="0" y="0"/>
                </a:cubicBezTo>
                <a:close/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BD9820-B780-A4CA-D812-DF4BE9214E89}"/>
              </a:ext>
            </a:extLst>
          </p:cNvPr>
          <p:cNvCxnSpPr>
            <a:cxnSpLocks/>
          </p:cNvCxnSpPr>
          <p:nvPr/>
        </p:nvCxnSpPr>
        <p:spPr>
          <a:xfrm>
            <a:off x="6648743" y="2295306"/>
            <a:ext cx="0" cy="582172"/>
          </a:xfrm>
          <a:prstGeom prst="straightConnector1">
            <a:avLst/>
          </a:prstGeom>
          <a:ln w="4762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0FE599D-4498-E841-75C7-5277BF3E51A1}"/>
              </a:ext>
            </a:extLst>
          </p:cNvPr>
          <p:cNvCxnSpPr>
            <a:cxnSpLocks/>
          </p:cNvCxnSpPr>
          <p:nvPr/>
        </p:nvCxnSpPr>
        <p:spPr>
          <a:xfrm>
            <a:off x="6814394" y="2279246"/>
            <a:ext cx="0" cy="598232"/>
          </a:xfrm>
          <a:prstGeom prst="straightConnector1">
            <a:avLst/>
          </a:prstGeom>
          <a:ln w="47625">
            <a:solidFill>
              <a:srgbClr val="00206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53FBD0E-AB14-BA5B-9338-5AB95BDBBABC}"/>
              </a:ext>
            </a:extLst>
          </p:cNvPr>
          <p:cNvCxnSpPr>
            <a:cxnSpLocks/>
          </p:cNvCxnSpPr>
          <p:nvPr/>
        </p:nvCxnSpPr>
        <p:spPr>
          <a:xfrm>
            <a:off x="6648743" y="5628466"/>
            <a:ext cx="0" cy="413953"/>
          </a:xfrm>
          <a:prstGeom prst="straightConnector1">
            <a:avLst/>
          </a:prstGeom>
          <a:ln w="4762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379547C-8A7F-75FA-491A-E0B66A6D12E0}"/>
              </a:ext>
            </a:extLst>
          </p:cNvPr>
          <p:cNvCxnSpPr>
            <a:cxnSpLocks/>
          </p:cNvCxnSpPr>
          <p:nvPr/>
        </p:nvCxnSpPr>
        <p:spPr>
          <a:xfrm>
            <a:off x="6814394" y="5628466"/>
            <a:ext cx="0" cy="404014"/>
          </a:xfrm>
          <a:prstGeom prst="straightConnector1">
            <a:avLst/>
          </a:prstGeom>
          <a:ln w="47625">
            <a:solidFill>
              <a:srgbClr val="00206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87091A6-8390-2D26-1D6D-97CD77DB6DCE}"/>
              </a:ext>
            </a:extLst>
          </p:cNvPr>
          <p:cNvSpPr txBox="1"/>
          <p:nvPr/>
        </p:nvSpPr>
        <p:spPr>
          <a:xfrm>
            <a:off x="9494372" y="4150273"/>
            <a:ext cx="1097280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EC2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766381-F22E-DBA0-488E-995A95F2105D}"/>
              </a:ext>
            </a:extLst>
          </p:cNvPr>
          <p:cNvSpPr txBox="1"/>
          <p:nvPr/>
        </p:nvSpPr>
        <p:spPr>
          <a:xfrm>
            <a:off x="9492148" y="2056422"/>
            <a:ext cx="1097280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S3 CloudFront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24CBC9-1581-04A2-F37A-F29A2DF39A92}"/>
              </a:ext>
            </a:extLst>
          </p:cNvPr>
          <p:cNvSpPr txBox="1"/>
          <p:nvPr/>
        </p:nvSpPr>
        <p:spPr>
          <a:xfrm>
            <a:off x="9504558" y="6244124"/>
            <a:ext cx="1097280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RDS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8C17A8-5978-E785-A742-4B6A1D0D7730}"/>
              </a:ext>
            </a:extLst>
          </p:cNvPr>
          <p:cNvSpPr txBox="1"/>
          <p:nvPr/>
        </p:nvSpPr>
        <p:spPr>
          <a:xfrm>
            <a:off x="9505348" y="1065700"/>
            <a:ext cx="1097280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Client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F5EA29-E653-70DF-2FFD-090AC6252AC0}"/>
              </a:ext>
            </a:extLst>
          </p:cNvPr>
          <p:cNvSpPr txBox="1"/>
          <p:nvPr/>
        </p:nvSpPr>
        <p:spPr>
          <a:xfrm>
            <a:off x="5936969" y="1501541"/>
            <a:ext cx="854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URL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3C239C-7F4F-4143-FF97-068060A9A48D}"/>
              </a:ext>
            </a:extLst>
          </p:cNvPr>
          <p:cNvSpPr txBox="1"/>
          <p:nvPr/>
        </p:nvSpPr>
        <p:spPr>
          <a:xfrm>
            <a:off x="6866993" y="1480989"/>
            <a:ext cx="24437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Download react app in local machine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CA01A3-DB9C-DACC-37FF-C6B29DBBDCBD}"/>
              </a:ext>
            </a:extLst>
          </p:cNvPr>
          <p:cNvSpPr txBox="1"/>
          <p:nvPr/>
        </p:nvSpPr>
        <p:spPr>
          <a:xfrm>
            <a:off x="4779287" y="2454680"/>
            <a:ext cx="17997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/>
              <a:t>HTTP POST/GET/PUT (JSON)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AB4BC6-E687-D3C6-2FF7-72E0E173D5D8}"/>
              </a:ext>
            </a:extLst>
          </p:cNvPr>
          <p:cNvSpPr txBox="1"/>
          <p:nvPr/>
        </p:nvSpPr>
        <p:spPr>
          <a:xfrm>
            <a:off x="6919102" y="2478900"/>
            <a:ext cx="18472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HTTP Response (JSON)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C39772-9D78-9460-BEA5-FF3317E46BFD}"/>
              </a:ext>
            </a:extLst>
          </p:cNvPr>
          <p:cNvSpPr txBox="1"/>
          <p:nvPr/>
        </p:nvSpPr>
        <p:spPr>
          <a:xfrm>
            <a:off x="5605665" y="5775115"/>
            <a:ext cx="9734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SQL Queries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9B42EA-90AA-BF05-677F-B6FD71F934E2}"/>
              </a:ext>
            </a:extLst>
          </p:cNvPr>
          <p:cNvSpPr txBox="1"/>
          <p:nvPr/>
        </p:nvSpPr>
        <p:spPr>
          <a:xfrm>
            <a:off x="6999927" y="5758343"/>
            <a:ext cx="10820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/>
              <a:t>ResultSet</a:t>
            </a:r>
            <a:endParaRPr lang="en-US" sz="1050" dirty="0"/>
          </a:p>
        </p:txBody>
      </p:sp>
      <p:sp>
        <p:nvSpPr>
          <p:cNvPr id="79" name="Up-Down Arrow 78">
            <a:extLst>
              <a:ext uri="{FF2B5EF4-FFF2-40B4-BE49-F238E27FC236}">
                <a16:creationId xmlns:a16="http://schemas.microsoft.com/office/drawing/2014/main" id="{CC553BEF-E741-62DB-4CFA-7A0440E55675}"/>
              </a:ext>
            </a:extLst>
          </p:cNvPr>
          <p:cNvSpPr/>
          <p:nvPr/>
        </p:nvSpPr>
        <p:spPr>
          <a:xfrm>
            <a:off x="6705562" y="3318648"/>
            <a:ext cx="115463" cy="22657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Up-Down Arrow 79">
            <a:extLst>
              <a:ext uri="{FF2B5EF4-FFF2-40B4-BE49-F238E27FC236}">
                <a16:creationId xmlns:a16="http://schemas.microsoft.com/office/drawing/2014/main" id="{EACA1C86-CFA3-63CA-42A8-047A6C16108A}"/>
              </a:ext>
            </a:extLst>
          </p:cNvPr>
          <p:cNvSpPr/>
          <p:nvPr/>
        </p:nvSpPr>
        <p:spPr>
          <a:xfrm>
            <a:off x="6698931" y="3877419"/>
            <a:ext cx="115463" cy="22657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Up-Down Arrow 80">
            <a:extLst>
              <a:ext uri="{FF2B5EF4-FFF2-40B4-BE49-F238E27FC236}">
                <a16:creationId xmlns:a16="http://schemas.microsoft.com/office/drawing/2014/main" id="{8F89B5B0-ED32-2BCD-DF67-6A6B589A682E}"/>
              </a:ext>
            </a:extLst>
          </p:cNvPr>
          <p:cNvSpPr/>
          <p:nvPr/>
        </p:nvSpPr>
        <p:spPr>
          <a:xfrm>
            <a:off x="6704188" y="4448771"/>
            <a:ext cx="115463" cy="22657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Up-Down Arrow 85">
            <a:extLst>
              <a:ext uri="{FF2B5EF4-FFF2-40B4-BE49-F238E27FC236}">
                <a16:creationId xmlns:a16="http://schemas.microsoft.com/office/drawing/2014/main" id="{64B8B134-24E9-41C0-9DC1-B31CA4CFBE36}"/>
              </a:ext>
            </a:extLst>
          </p:cNvPr>
          <p:cNvSpPr/>
          <p:nvPr/>
        </p:nvSpPr>
        <p:spPr>
          <a:xfrm>
            <a:off x="6718526" y="4976590"/>
            <a:ext cx="115463" cy="22657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7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124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Solution Architecture Diagram for ADS Dental Surgery System (Monolithic)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Mahbub Hossain</dc:creator>
  <cp:lastModifiedBy>Md Mahbub Hossain</cp:lastModifiedBy>
  <cp:revision>2</cp:revision>
  <dcterms:created xsi:type="dcterms:W3CDTF">2025-04-22T22:29:43Z</dcterms:created>
  <dcterms:modified xsi:type="dcterms:W3CDTF">2025-04-23T03:39:38Z</dcterms:modified>
</cp:coreProperties>
</file>